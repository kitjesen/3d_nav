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Arial"/>
              </a:defRPr>
            </a:pPr>
            <a:r>
              <a:t>Multi-Level Factory Navigation for Quadruped Robots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FD5"/>
                </a:solidFill>
                <a:latin typeface="Arial"/>
              </a:defRPr>
            </a:pPr>
            <a:r>
              <a:t>MuJoCo Physics Simulation with Real ONNX Locomotion Policy + ROS2 Navigation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749039"/>
            <a:ext cx="2103120" cy="2743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Arial"/>
              </a:defRPr>
            </a:pPr>
            <a:r>
              <a:t>Hongsen Pang, Hanzhuo Zhang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599AD"/>
                </a:solidFill>
                <a:latin typeface="Arial"/>
              </a:defRPr>
            </a:pPr>
            <a:r>
              <a:t>Shanghai Qiongpei Technology Co., Ltd.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599AD"/>
                </a:solidFill>
                <a:latin typeface="Arial"/>
              </a:defRPr>
            </a:pPr>
            <a:r>
              <a:t>LingTu Autonomous Navigation System  |  March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4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355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Arial"/>
              </a:defRPr>
            </a:pPr>
            <a:r>
              <a:t>INOVXIO  |  Robotics Full-Stack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Research Motivation &amp; System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30352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6C1"/>
                </a:solidFill>
                <a:latin typeface="Arial"/>
              </a:defRPr>
            </a:pPr>
            <a:r>
              <a:t>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9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Industrial factories present unique 3D navigation challenges:</a:t>
            </a:r>
          </a:p>
          <a:p>
            <a:pPr>
              <a:spcAft>
                <a:spcPts val="209"/>
              </a:spcAft>
              <a:defRPr sz="1400">
                <a:solidFill>
                  <a:srgbClr val="2C3E50"/>
                </a:solidFill>
                <a:latin typeface="Arial"/>
              </a:defRPr>
            </a:pPr>
          </a:p>
          <a:p>
            <a:pPr>
              <a:spcAft>
                <a:spcPts val="209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  •  Multi-level structures with ramps, stairs, and catwalks</a:t>
            </a:r>
          </a:p>
          <a:p>
            <a:pPr>
              <a:spcAft>
                <a:spcPts val="209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  •  Narrow passages between heavy machinery</a:t>
            </a:r>
          </a:p>
          <a:p>
            <a:pPr>
              <a:spcAft>
                <a:spcPts val="209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  •  Dynamic obstacles (forklifts, personnel)</a:t>
            </a:r>
          </a:p>
          <a:p>
            <a:pPr>
              <a:spcAft>
                <a:spcPts val="209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  •  GPS-denied indoor environments</a:t>
            </a:r>
          </a:p>
          <a:p>
            <a:pPr>
              <a:spcAft>
                <a:spcPts val="209"/>
              </a:spcAft>
              <a:defRPr sz="1400">
                <a:solidFill>
                  <a:srgbClr val="2C3E50"/>
                </a:solidFill>
                <a:latin typeface="Arial"/>
              </a:defRPr>
            </a:pPr>
          </a:p>
          <a:p>
            <a:pPr>
              <a:spcAft>
                <a:spcPts val="209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Quadruped robots can traverse terrain impassable to wheeled</a:t>
            </a:r>
          </a:p>
          <a:p>
            <a:pPr>
              <a:spcAft>
                <a:spcPts val="209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platforms, but require tight integration between:</a:t>
            </a:r>
          </a:p>
          <a:p>
            <a:pPr>
              <a:spcAft>
                <a:spcPts val="209"/>
              </a:spcAft>
              <a:defRPr sz="1400">
                <a:solidFill>
                  <a:srgbClr val="2C3E50"/>
                </a:solidFill>
                <a:latin typeface="Arial"/>
              </a:defRPr>
            </a:pPr>
          </a:p>
          <a:p>
            <a:pPr>
              <a:spcAft>
                <a:spcPts val="209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  1. Locomotion control (RL policy, 50Hz)</a:t>
            </a:r>
          </a:p>
          <a:p>
            <a:pPr>
              <a:spcAft>
                <a:spcPts val="209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  2. Terrain perception (LiDAR + traversability)</a:t>
            </a:r>
          </a:p>
          <a:p>
            <a:pPr>
              <a:spcAft>
                <a:spcPts val="209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  3. Global path planning (tomography-based A*)</a:t>
            </a:r>
          </a:p>
          <a:p>
            <a:pPr>
              <a:spcAft>
                <a:spcPts val="209"/>
              </a:spcAft>
              <a:defRPr sz="1400">
                <a:solidFill>
                  <a:srgbClr val="2C3E50"/>
                </a:solidFill>
                <a:latin typeface="Arial"/>
              </a:defRPr>
            </a:pPr>
            <a:r>
              <a:t>  4. Local obstacle avoidance (terrain-aware)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097280"/>
            <a:ext cx="576072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1887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6C1"/>
                </a:solidFill>
                <a:latin typeface="Arial"/>
              </a:defRPr>
            </a:pPr>
            <a:r>
              <a:t>Simulation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"/>
              </a:spcAft>
              <a:defRPr sz="1100">
                <a:solidFill>
                  <a:srgbClr val="2C3E50"/>
                </a:solidFill>
                <a:latin typeface="Consolas"/>
              </a:defRPr>
            </a:pPr>
            <a:r>
              <a:t>┌────────────── MuJoCo Physics ─────────────┐</a:t>
            </a:r>
          </a:p>
          <a:p>
            <a:pPr>
              <a:spcAft>
                <a:spcPts val="110"/>
              </a:spcAft>
              <a:defRPr sz="1100">
                <a:solidFill>
                  <a:srgbClr val="2C3E50"/>
                </a:solidFill>
                <a:latin typeface="Consolas"/>
              </a:defRPr>
            </a:pPr>
            <a:r>
              <a:t>│  Robot MJCF (16-DOF quadruped + arm)     │</a:t>
            </a:r>
          </a:p>
          <a:p>
            <a:pPr>
              <a:spcAft>
                <a:spcPts val="110"/>
              </a:spcAft>
              <a:defRPr sz="1100">
                <a:solidFill>
                  <a:srgbClr val="2C3E50"/>
                </a:solidFill>
                <a:latin typeface="Consolas"/>
              </a:defRPr>
            </a:pPr>
            <a:r>
              <a:t>│  Factory Scene (80m×55m, 4 levels)       │</a:t>
            </a:r>
          </a:p>
          <a:p>
            <a:pPr>
              <a:spcAft>
                <a:spcPts val="110"/>
              </a:spcAft>
              <a:defRPr sz="1100">
                <a:solidFill>
                  <a:srgbClr val="2C3E50"/>
                </a:solidFill>
                <a:latin typeface="Consolas"/>
              </a:defRPr>
            </a:pPr>
            <a:r>
              <a:t>│  Contact physics + PD joint control       │</a:t>
            </a:r>
          </a:p>
          <a:p>
            <a:pPr>
              <a:spcAft>
                <a:spcPts val="110"/>
              </a:spcAft>
              <a:defRPr sz="1100">
                <a:solidFill>
                  <a:srgbClr val="2C3E50"/>
                </a:solidFill>
                <a:latin typeface="Consolas"/>
              </a:defRPr>
            </a:pPr>
            <a:r>
              <a:t>└─────┬────────────┬────────────┬────────┘</a:t>
            </a:r>
          </a:p>
          <a:p>
            <a:pPr>
              <a:spcAft>
                <a:spcPts val="110"/>
              </a:spcAft>
              <a:defRPr sz="1100">
                <a:solidFill>
                  <a:srgbClr val="2C3E50"/>
                </a:solidFill>
                <a:latin typeface="Consolas"/>
              </a:defRPr>
            </a:pPr>
            <a:r>
              <a:t>      │            │            │</a:t>
            </a:r>
          </a:p>
          <a:p>
            <a:pPr>
              <a:spcAft>
                <a:spcPts val="110"/>
              </a:spcAft>
              <a:defRPr sz="1100">
                <a:solidFill>
                  <a:srgbClr val="2C3E50"/>
                </a:solidFill>
                <a:latin typeface="Consolas"/>
              </a:defRPr>
            </a:pPr>
            <a:r>
              <a:t>      ▼            ▼            ▼</a:t>
            </a:r>
          </a:p>
          <a:p>
            <a:pPr>
              <a:spcAft>
                <a:spcPts val="110"/>
              </a:spcAft>
              <a:defRPr sz="1100">
                <a:solidFill>
                  <a:srgbClr val="2C3E50"/>
                </a:solidFill>
                <a:latin typeface="Consolas"/>
              </a:defRPr>
            </a:pPr>
            <a:r>
              <a:t>  Odometry     PointCloud2    cmd_vel</a:t>
            </a:r>
          </a:p>
          <a:p>
            <a:pPr>
              <a:spcAft>
                <a:spcPts val="110"/>
              </a:spcAft>
              <a:defRPr sz="1100">
                <a:solidFill>
                  <a:srgbClr val="2C3E50"/>
                </a:solidFill>
                <a:latin typeface="Consolas"/>
              </a:defRPr>
            </a:pPr>
            <a:r>
              <a:t>  (TF/odom)    (mj_multiRay)  (twist)</a:t>
            </a:r>
          </a:p>
          <a:p>
            <a:pPr>
              <a:spcAft>
                <a:spcPts val="110"/>
              </a:spcAft>
              <a:defRPr sz="1100">
                <a:solidFill>
                  <a:srgbClr val="2C3E50"/>
                </a:solidFill>
                <a:latin typeface="Consolas"/>
              </a:defRPr>
            </a:pPr>
            <a:r>
              <a:t>      │            │            ▲</a:t>
            </a:r>
          </a:p>
          <a:p>
            <a:pPr>
              <a:spcAft>
                <a:spcPts val="110"/>
              </a:spcAft>
              <a:defRPr sz="1100">
                <a:solidFill>
                  <a:srgbClr val="2C3E50"/>
                </a:solidFill>
                <a:latin typeface="Consolas"/>
              </a:defRPr>
            </a:pPr>
            <a:r>
              <a:t>      ▼            ▼            │</a:t>
            </a:r>
          </a:p>
          <a:p>
            <a:pPr>
              <a:spcAft>
                <a:spcPts val="110"/>
              </a:spcAft>
              <a:defRPr sz="1100">
                <a:solidFill>
                  <a:srgbClr val="2C3E50"/>
                </a:solidFill>
                <a:latin typeface="Consolas"/>
              </a:defRPr>
            </a:pPr>
            <a:r>
              <a:t>┌────────────── ROS2 Navigation ───────────┐</a:t>
            </a:r>
          </a:p>
          <a:p>
            <a:pPr>
              <a:spcAft>
                <a:spcPts val="110"/>
              </a:spcAft>
              <a:defRPr sz="1100">
                <a:solidFill>
                  <a:srgbClr val="2C3E50"/>
                </a:solidFill>
                <a:latin typeface="Consolas"/>
              </a:defRPr>
            </a:pPr>
            <a:r>
              <a:t>│  SLAM (Fast-LIO2/Point-LIO)              │</a:t>
            </a:r>
          </a:p>
          <a:p>
            <a:pPr>
              <a:spcAft>
                <a:spcPts val="110"/>
              </a:spcAft>
              <a:defRPr sz="1100">
                <a:solidFill>
                  <a:srgbClr val="2C3E50"/>
                </a:solidFill>
                <a:latin typeface="Consolas"/>
              </a:defRPr>
            </a:pPr>
            <a:r>
              <a:t>│  Terrain Analysis → Local Planner          │</a:t>
            </a:r>
          </a:p>
          <a:p>
            <a:pPr>
              <a:spcAft>
                <a:spcPts val="110"/>
              </a:spcAft>
              <a:defRPr sz="1100">
                <a:solidFill>
                  <a:srgbClr val="2C3E50"/>
                </a:solidFill>
                <a:latin typeface="Consolas"/>
              </a:defRPr>
            </a:pPr>
            <a:r>
              <a:t>│  Global Planner (PCT A*) → Path Adapter   │</a:t>
            </a:r>
          </a:p>
          <a:p>
            <a:pPr>
              <a:spcAft>
                <a:spcPts val="110"/>
              </a:spcAft>
              <a:defRPr sz="1100">
                <a:solidFill>
                  <a:srgbClr val="2C3E50"/>
                </a:solidFill>
                <a:latin typeface="Consolas"/>
              </a:defRPr>
            </a:pPr>
            <a:r>
              <a:t>│  Path Follower → cmd_vel                  │</a:t>
            </a:r>
          </a:p>
          <a:p>
            <a:pPr>
              <a:spcAft>
                <a:spcPts val="110"/>
              </a:spcAft>
              <a:defRPr sz="1100">
                <a:solidFill>
                  <a:srgbClr val="2C3E50"/>
                </a:solidFill>
                <a:latin typeface="Consolas"/>
              </a:defRPr>
            </a:pPr>
            <a:r>
              <a:t>└──────────────────────────────────────────┘</a:t>
            </a:r>
          </a:p>
          <a:p>
            <a:pPr>
              <a:spcAft>
                <a:spcPts val="110"/>
              </a:spcAft>
              <a:defRPr sz="1100">
                <a:solidFill>
                  <a:srgbClr val="2C3E50"/>
                </a:solidFill>
                <a:latin typeface="Consolas"/>
              </a:defRPr>
            </a:pPr>
          </a:p>
          <a:p>
            <a:pPr>
              <a:spcAft>
                <a:spcPts val="110"/>
              </a:spcAft>
              <a:defRPr sz="1100">
                <a:solidFill>
                  <a:srgbClr val="2C3E50"/>
                </a:solidFill>
                <a:latin typeface="Consolas"/>
              </a:defRPr>
            </a:pPr>
            <a:r>
              <a:t>  ONNX Policy: obs_history[1,285] → actions[1,16]</a:t>
            </a:r>
          </a:p>
          <a:p>
            <a:pPr>
              <a:spcAft>
                <a:spcPts val="110"/>
              </a:spcAft>
              <a:defRPr sz="1100">
                <a:solidFill>
                  <a:srgbClr val="2C3E50"/>
                </a:solidFill>
                <a:latin typeface="Consolas"/>
              </a:defRPr>
            </a:pPr>
            <a:r>
              <a:t>  5-frame history, 50Hz inference on aarch64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Multi-Level Factory Scene Design (MuJoCo MJCF)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685800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Arial"/>
              </a:defRPr>
            </a:pPr>
            <a:r>
              <a:t>Factory Floor Plan — 80m × 55m, Total Height 13.5m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6492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"/>
              </a:spcAft>
              <a:defRPr sz="1100">
                <a:solidFill>
                  <a:srgbClr val="2C3E50"/>
                </a:solidFill>
                <a:latin typeface="Consolas"/>
              </a:defRPr>
            </a:pPr>
            <a:r>
              <a:t>┌─── Level RF  Z=13.5m ─── Roof Platform ───────────┐</a:t>
            </a:r>
          </a:p>
          <a:p>
            <a:pPr>
              <a:spcAft>
                <a:spcPts val="55"/>
              </a:spcAft>
              <a:defRPr sz="1100">
                <a:solidFill>
                  <a:srgbClr val="2C3E50"/>
                </a:solidFill>
                <a:latin typeface="Consolas"/>
              </a:defRPr>
            </a:pPr>
            <a:r>
              <a:t>│    X=48~80, Y=40~55  |  HVAC, antennas, railing    │</a:t>
            </a:r>
          </a:p>
          <a:p>
            <a:pPr>
              <a:spcAft>
                <a:spcPts val="55"/>
              </a:spcAft>
              <a:defRPr sz="1100">
                <a:solidFill>
                  <a:srgbClr val="2C3E50"/>
                </a:solidFill>
                <a:latin typeface="Consolas"/>
              </a:defRPr>
            </a:pPr>
            <a:r>
              <a:t>├─── Level M2  Z= 9.0m ─── Control Room ────────────┤</a:t>
            </a:r>
          </a:p>
          <a:p>
            <a:pPr>
              <a:spcAft>
                <a:spcPts val="55"/>
              </a:spcAft>
              <a:defRPr sz="1100">
                <a:solidFill>
                  <a:srgbClr val="2C3E50"/>
                </a:solidFill>
                <a:latin typeface="Consolas"/>
              </a:defRPr>
            </a:pPr>
            <a:r>
              <a:t>│    X=48~80, Y=28~55  |  Control panels, windows     │</a:t>
            </a:r>
          </a:p>
          <a:p>
            <a:pPr>
              <a:spcAft>
                <a:spcPts val="55"/>
              </a:spcAft>
              <a:defRPr sz="1100">
                <a:solidFill>
                  <a:srgbClr val="2C3E50"/>
                </a:solidFill>
                <a:latin typeface="Consolas"/>
              </a:defRPr>
            </a:pPr>
            <a:r>
              <a:t>├─── Level M1  Z= 4.5m ─── Mezzanine ───────────────┤</a:t>
            </a:r>
          </a:p>
          <a:p>
            <a:pPr>
              <a:spcAft>
                <a:spcPts val="55"/>
              </a:spcAft>
              <a:defRPr sz="1100">
                <a:solidFill>
                  <a:srgbClr val="2C3E50"/>
                </a:solidFill>
                <a:latin typeface="Consolas"/>
              </a:defRPr>
            </a:pPr>
            <a:r>
              <a:t>│    X=48~80, Y=0~55   |  Catwalk + bridge            │</a:t>
            </a:r>
          </a:p>
          <a:p>
            <a:pPr>
              <a:spcAft>
                <a:spcPts val="55"/>
              </a:spcAft>
              <a:defRPr sz="1100">
                <a:solidFill>
                  <a:srgbClr val="2C3E50"/>
                </a:solidFill>
                <a:latin typeface="Consolas"/>
              </a:defRPr>
            </a:pPr>
            <a:r>
              <a:t>├─── Level G0  Z= 0.0m ─── Main Production ─────────┤</a:t>
            </a:r>
          </a:p>
          <a:p>
            <a:pPr>
              <a:spcAft>
                <a:spcPts val="55"/>
              </a:spcAft>
              <a:defRPr sz="1100">
                <a:solidFill>
                  <a:srgbClr val="2C3E50"/>
                </a:solidFill>
                <a:latin typeface="Consolas"/>
              </a:defRPr>
            </a:pPr>
            <a:r>
              <a:t>│    Main Hall  X=0~48  |  Columns, machines           │</a:t>
            </a:r>
          </a:p>
          <a:p>
            <a:pPr>
              <a:spcAft>
                <a:spcPts val="55"/>
              </a:spcAft>
              <a:defRPr sz="1100">
                <a:solidFill>
                  <a:srgbClr val="2C3E50"/>
                </a:solidFill>
                <a:latin typeface="Consolas"/>
              </a:defRPr>
            </a:pPr>
            <a:r>
              <a:t>│    Warehouse  X=50~80 |  Racks, pallets, cylinders   │</a:t>
            </a:r>
          </a:p>
          <a:p>
            <a:pPr>
              <a:spcAft>
                <a:spcPts val="55"/>
              </a:spcAft>
              <a:defRPr sz="1100">
                <a:solidFill>
                  <a:srgbClr val="2C3E50"/>
                </a:solidFill>
                <a:latin typeface="Consolas"/>
              </a:defRPr>
            </a:pPr>
            <a:r>
              <a:t>│    Platform   Z=+1.5  |  Elevated maintenance area   │</a:t>
            </a:r>
          </a:p>
          <a:p>
            <a:pPr>
              <a:spcAft>
                <a:spcPts val="55"/>
              </a:spcAft>
              <a:defRPr sz="1100">
                <a:solidFill>
                  <a:srgbClr val="2C3E50"/>
                </a:solidFill>
                <a:latin typeface="Consolas"/>
              </a:defRPr>
            </a:pPr>
            <a:r>
              <a:t>├─── Level B1  Z=-2.5m ─── Loading Dock ────────────┤</a:t>
            </a:r>
          </a:p>
          <a:p>
            <a:pPr>
              <a:spcAft>
                <a:spcPts val="55"/>
              </a:spcAft>
              <a:defRPr sz="1100">
                <a:solidFill>
                  <a:srgbClr val="2C3E50"/>
                </a:solidFill>
                <a:latin typeface="Consolas"/>
              </a:defRPr>
            </a:pPr>
            <a:r>
              <a:t>│    X=0~60, Y=0~8     |  3 truck bays, drums          │</a:t>
            </a:r>
          </a:p>
          <a:p>
            <a:pPr>
              <a:spcAft>
                <a:spcPts val="55"/>
              </a:spcAft>
              <a:defRPr sz="1100">
                <a:solidFill>
                  <a:srgbClr val="2C3E50"/>
                </a:solidFill>
                <a:latin typeface="Consolas"/>
              </a:defRPr>
            </a:pPr>
            <a:r>
              <a:t>└──────────────────────────────────────────────────┘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55"/>
              </a:spcAft>
              <a:defRPr sz="1100">
                <a:solidFill>
                  <a:srgbClr val="2C3E50"/>
                </a:solidFill>
                <a:latin typeface="Consolas"/>
              </a:defRPr>
            </a:pPr>
          </a:p>
          <a:p>
            <a:pPr>
              <a:spcAft>
                <a:spcPts val="55"/>
              </a:spcAft>
              <a:defRPr sz="1100">
                <a:solidFill>
                  <a:srgbClr val="2C3E50"/>
                </a:solidFill>
                <a:latin typeface="Consolas"/>
              </a:defRPr>
            </a:pPr>
            <a:r>
              <a:t>Vertical Connections:</a:t>
            </a:r>
          </a:p>
          <a:p>
            <a:pPr>
              <a:spcAft>
                <a:spcPts val="55"/>
              </a:spcAft>
              <a:defRPr sz="1100">
                <a:solidFill>
                  <a:srgbClr val="2C3E50"/>
                </a:solidFill>
                <a:latin typeface="Consolas"/>
              </a:defRPr>
            </a:pPr>
            <a:r>
              <a:t>  Ramp R1:  B1 → G0  (12.5°, 20m run, 2.5m rise)</a:t>
            </a:r>
          </a:p>
          <a:p>
            <a:pPr>
              <a:spcAft>
                <a:spcPts val="55"/>
              </a:spcAft>
              <a:defRPr sz="1100">
                <a:solidFill>
                  <a:srgbClr val="2C3E50"/>
                </a:solidFill>
                <a:latin typeface="Consolas"/>
              </a:defRPr>
            </a:pPr>
            <a:r>
              <a:t>  Ramp R2:  G0 → +1.5m  (10.7°, 14m run)</a:t>
            </a:r>
          </a:p>
          <a:p>
            <a:pPr>
              <a:spcAft>
                <a:spcPts val="55"/>
              </a:spcAft>
              <a:defRPr sz="1100">
                <a:solidFill>
                  <a:srgbClr val="2C3E50"/>
                </a:solidFill>
                <a:latin typeface="Consolas"/>
              </a:defRPr>
            </a:pPr>
            <a:r>
              <a:t>  Stairs S1-S4:  G0 → M1 → M2 → RF  (18 steps each)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79" y="1097280"/>
            <a:ext cx="429768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1887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Arial"/>
              </a:defRPr>
            </a:pPr>
            <a:r>
              <a:t>Scene Specifications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589520" y="1645920"/>
          <a:ext cx="4114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39901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Parameter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Value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Footprint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80m × 55m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Levels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5 (B1, G0, M1, M2, RF)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Total Height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13.5m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Vertical Gain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16.5m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Horizontal Route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~100m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Ramp Gradients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7° – 12.5°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Obstacle Types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Columns, machinery,</a:t>
                      </a:r>
                    </a:p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conveyors, racks, drums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MuJoCo Bodies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&gt;200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Physics Timestep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2ms (500Hz)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90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Integrator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RK4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680960" y="539496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Arial"/>
              </a:defRPr>
            </a:pPr>
            <a:r>
              <a:t>Navigation Route:</a:t>
            </a:r>
            <a:br/>
            <a:r>
              <a:t>B1(5,3) → R1 → G0 hall → S1 → M1 → S3 → M2 → S4 → RF(72,52)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RL Locomotion Policy — ONNX Deployment on aarch64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66928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  <a:latin typeface="Arial"/>
              </a:defRPr>
            </a:pPr>
            <a:r>
              <a:t>Policy Architecture (Isaac Lab trained)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"/>
              </a:spcAft>
              <a:defRPr sz="1300">
                <a:solidFill>
                  <a:srgbClr val="2C3E50"/>
                </a:solidFill>
                <a:latin typeface="Consolas"/>
              </a:defRPr>
            </a:pPr>
            <a:r>
              <a:t>Input:  obs_history [1, 285]  =  57 dims × 5 frames</a:t>
            </a:r>
          </a:p>
          <a:p>
            <a:pPr>
              <a:spcAft>
                <a:spcPts val="130"/>
              </a:spcAft>
              <a:defRPr sz="1300">
                <a:solidFill>
                  <a:srgbClr val="2C3E50"/>
                </a:solidFill>
                <a:latin typeface="Consolas"/>
              </a:defRPr>
            </a:pPr>
            <a:r>
              <a:t>Output: actions [1, 16]  =  12 leg joints + 4 foot joints</a:t>
            </a:r>
          </a:p>
          <a:p>
            <a:pPr>
              <a:spcAft>
                <a:spcPts val="130"/>
              </a:spcAft>
              <a:defRPr sz="1300">
                <a:solidFill>
                  <a:srgbClr val="2C3E50"/>
                </a:solidFill>
                <a:latin typeface="Consolas"/>
              </a:defRPr>
            </a:pPr>
          </a:p>
          <a:p>
            <a:pPr>
              <a:spcAft>
                <a:spcPts val="130"/>
              </a:spcAft>
              <a:defRPr sz="1300">
                <a:solidFill>
                  <a:srgbClr val="2C3E50"/>
                </a:solidFill>
                <a:latin typeface="Consolas"/>
              </a:defRPr>
            </a:pPr>
            <a:r>
              <a:t>57-dim observation vector per frame:</a:t>
            </a:r>
          </a:p>
          <a:p>
            <a:pPr>
              <a:spcAft>
                <a:spcPts val="130"/>
              </a:spcAft>
              <a:defRPr sz="1300">
                <a:solidFill>
                  <a:srgbClr val="2C3E50"/>
                </a:solidFill>
                <a:latin typeface="Consolas"/>
              </a:defRPr>
            </a:pPr>
            <a:r>
              <a:t>  gyroscope(3)  |  projected_gravity(3)  |  direction(3)</a:t>
            </a:r>
          </a:p>
          <a:p>
            <a:pPr>
              <a:spcAft>
                <a:spcPts val="130"/>
              </a:spcAft>
              <a:defRPr sz="1300">
                <a:solidFill>
                  <a:srgbClr val="2C3E50"/>
                </a:solidFill>
                <a:latin typeface="Consolas"/>
              </a:defRPr>
            </a:pPr>
            <a:r>
              <a:t>  joint_position(16)  |  joint_velocity(16)  |  last_action(16)</a:t>
            </a:r>
          </a:p>
          <a:p>
            <a:pPr>
              <a:spcAft>
                <a:spcPts val="130"/>
              </a:spcAft>
              <a:defRPr sz="1300">
                <a:solidFill>
                  <a:srgbClr val="2C3E50"/>
                </a:solidFill>
                <a:latin typeface="Consolas"/>
              </a:defRPr>
            </a:pPr>
          </a:p>
          <a:p>
            <a:pPr>
              <a:spcAft>
                <a:spcPts val="130"/>
              </a:spcAft>
              <a:defRPr sz="1300">
                <a:solidFill>
                  <a:srgbClr val="2C3E50"/>
                </a:solidFill>
                <a:latin typeface="Consolas"/>
              </a:defRPr>
            </a:pPr>
            <a:r>
              <a:t>Action transform: real = output × action_scale + standing_pose</a:t>
            </a:r>
          </a:p>
          <a:p>
            <a:pPr>
              <a:spcAft>
                <a:spcPts val="130"/>
              </a:spcAft>
              <a:defRPr sz="1300">
                <a:solidFill>
                  <a:srgbClr val="2C3E50"/>
                </a:solidFill>
                <a:latin typeface="Consolas"/>
              </a:defRPr>
            </a:pPr>
            <a:r>
              <a:t>PD control: τ = kp × (target - q) - kv × dq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097280"/>
            <a:ext cx="54864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1887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Arial"/>
              </a:defRPr>
            </a:pPr>
            <a:r>
              <a:t>Critical Bug Fixes (Sim-to-Real Gap)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164592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Issue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Root Cause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Fix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Robot collapses</a:t>
                      </a:r>
                    </a:p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immediately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History buffer init</a:t>
                      </a:r>
                    </a:p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with zeros (no gravity)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Warm-up with real</a:t>
                      </a:r>
                    </a:p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IMU data (5 frames)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Legs splay</a:t>
                      </a:r>
                    </a:p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outward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MuJoCo ↔ Dart joint</a:t>
                      </a:r>
                    </a:p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order mismatch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MJ_TO_DART index</a:t>
                      </a:r>
                    </a:p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array conversion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10% max speed</a:t>
                      </a:r>
                    </a:p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(should be 43%+)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kv=20 &gt;&gt; kp torque</a:t>
                      </a:r>
                    </a:p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(damping dominates)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kp×6, kv=5</a:t>
                      </a:r>
                    </a:p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(match training)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5760" y="3931920"/>
            <a:ext cx="114300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  <a:latin typeface="Arial"/>
              </a:defRPr>
            </a:pPr>
            <a:r>
              <a:t>Locomotion Performance Metrics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480560"/>
            <a:ext cx="219456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6177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7AE60"/>
                </a:solidFill>
                <a:latin typeface="Arial"/>
              </a:defRPr>
            </a:pPr>
            <a:r>
              <a:t>0.33m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212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Arial"/>
              </a:defRPr>
            </a:pPr>
            <a:r>
              <a:t>Standing Height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4480560"/>
            <a:ext cx="219456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46177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7AE60"/>
                </a:solidFill>
                <a:latin typeface="Arial"/>
              </a:defRPr>
            </a:pPr>
            <a:r>
              <a:t>40s+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5212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Arial"/>
              </a:defRPr>
            </a:pPr>
            <a:r>
              <a:t>Stable Standing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4480560"/>
            <a:ext cx="219456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46177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E86C1"/>
                </a:solidFill>
                <a:latin typeface="Arial"/>
              </a:defRPr>
            </a:pPr>
            <a:r>
              <a:t>43%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5212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Arial"/>
              </a:defRPr>
            </a:pPr>
            <a:r>
              <a:t>Walk Speed (vx=0.5)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0" y="4480560"/>
            <a:ext cx="219456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0" y="46177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E86C1"/>
                </a:solidFill>
                <a:latin typeface="Arial"/>
              </a:defRPr>
            </a:pPr>
            <a:r>
              <a:t>59%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5212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Arial"/>
              </a:defRPr>
            </a:pPr>
            <a:r>
              <a:t>Walk Speed (vx=1.0)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0" y="4480560"/>
            <a:ext cx="219456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0" y="46177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7AE60"/>
                </a:solidFill>
                <a:latin typeface="Arial"/>
              </a:defRPr>
            </a:pPr>
            <a:r>
              <a:t>12s+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5212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Arial"/>
              </a:defRPr>
            </a:pPr>
            <a:r>
              <a:t>Gait Stability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Arial"/>
              </a:defRPr>
            </a:pPr>
            <a:r>
              <a:t>Joint order mapping: MJ(4+4+4+4) ↔ Dart(3+3+3+3+4)  |  PD Gains: kp=[390,570,720], kv=5  |  16-DOF quadruped + 6-DOF arm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Simulated LiDAR — Livox Mid-360 via mj_multiRay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66928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  <a:latin typeface="Arial"/>
              </a:defRPr>
            </a:pPr>
            <a:r>
              <a:t>Raycasting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MuJoCo mj_multiRay API (v3.5.0):</a:t>
            </a:r>
          </a:p>
          <a:p>
            <a:pPr>
              <a:spcAft>
                <a:spcPts val="130"/>
              </a:spcAft>
              <a:defRPr sz="1300">
                <a:solidFill>
                  <a:srgbClr val="2C3E50"/>
                </a:solidFill>
                <a:latin typeface="Arial"/>
              </a:defRPr>
            </a:pPr>
          </a:p>
          <a:p>
            <a:pPr>
              <a:spcAft>
                <a:spcPts val="13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•  6,400 rays per scan (golden angle spiral)</a:t>
            </a:r>
          </a:p>
          <a:p>
            <a:pPr>
              <a:spcAft>
                <a:spcPts val="13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•  1.5ms per scan on RDK S100P (aarch64)</a:t>
            </a:r>
          </a:p>
          <a:p>
            <a:pPr>
              <a:spcAft>
                <a:spcPts val="13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•  Geomgroup filtering: robot=0, env=1</a:t>
            </a:r>
          </a:p>
          <a:p>
            <a:pPr>
              <a:spcAft>
                <a:spcPts val="13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•  Output: PointCloud2 with XYZI fields</a:t>
            </a:r>
          </a:p>
          <a:p>
            <a:pPr>
              <a:spcAft>
                <a:spcPts val="130"/>
              </a:spcAft>
              <a:defRPr sz="1300">
                <a:solidFill>
                  <a:srgbClr val="2C3E50"/>
                </a:solidFill>
                <a:latin typeface="Arial"/>
              </a:defRPr>
            </a:pPr>
          </a:p>
          <a:p>
            <a:pPr>
              <a:spcAft>
                <a:spcPts val="13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Livox Mid-360 Pattern (OmniPerception):</a:t>
            </a:r>
          </a:p>
          <a:p>
            <a:pPr>
              <a:spcAft>
                <a:spcPts val="13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•  mid360.npy: 800,000 × 2 (azimuth, elevation)</a:t>
            </a:r>
          </a:p>
          <a:p>
            <a:pPr>
              <a:spcAft>
                <a:spcPts val="13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•  FOV: 360° azimuth, -7° ~ +52° elevation</a:t>
            </a:r>
          </a:p>
          <a:p>
            <a:pPr>
              <a:spcAft>
                <a:spcPts val="13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•  20,000 rays/frame, 40-frame cycle</a:t>
            </a:r>
          </a:p>
          <a:p>
            <a:pPr>
              <a:spcAft>
                <a:spcPts val="13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•  Non-repetitive scanning pattern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097280"/>
            <a:ext cx="54864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1887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  <a:latin typeface="Arial"/>
              </a:defRPr>
            </a:pPr>
            <a:r>
              <a:t>PCT Tomogram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Point Cloud → Voxelization → Tomogram (occupancy grid)</a:t>
            </a:r>
          </a:p>
          <a:p>
            <a:pPr>
              <a:spcAft>
                <a:spcPts val="130"/>
              </a:spcAft>
              <a:defRPr sz="1300">
                <a:solidFill>
                  <a:srgbClr val="2C3E50"/>
                </a:solidFill>
                <a:latin typeface="Arial"/>
              </a:defRPr>
            </a:pPr>
          </a:p>
          <a:p>
            <a:pPr>
              <a:spcAft>
                <a:spcPts val="13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Factory Tomogram Properties:</a:t>
            </a:r>
          </a:p>
          <a:p>
            <a:pPr>
              <a:spcAft>
                <a:spcPts val="13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•  Shape: (5, 2, 154, 118)  [Z-slices, channels, X, Y]</a:t>
            </a:r>
          </a:p>
          <a:p>
            <a:pPr>
              <a:spcAft>
                <a:spcPts val="13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•  Resolution: 0.2m per cell</a:t>
            </a:r>
          </a:p>
          <a:p>
            <a:pPr>
              <a:spcAft>
                <a:spcPts val="13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•  Center: (15.06, 8.00)m</a:t>
            </a:r>
          </a:p>
          <a:p>
            <a:pPr>
              <a:spcAft>
                <a:spcPts val="13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•  Slice 0: 12,978 free cells</a:t>
            </a:r>
          </a:p>
          <a:p>
            <a:pPr>
              <a:spcAft>
                <a:spcPts val="13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•  23 connected components (largest: 7,755 cells)</a:t>
            </a:r>
          </a:p>
          <a:p>
            <a:pPr>
              <a:spcAft>
                <a:spcPts val="130"/>
              </a:spcAft>
              <a:defRPr sz="1300">
                <a:solidFill>
                  <a:srgbClr val="2C3E50"/>
                </a:solidFill>
                <a:latin typeface="Arial"/>
              </a:defRPr>
            </a:pPr>
          </a:p>
          <a:p>
            <a:pPr>
              <a:spcAft>
                <a:spcPts val="13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Stored as: factory_nova.pickle (924 KB)</a:t>
            </a:r>
          </a:p>
          <a:p>
            <a:pPr>
              <a:spcAft>
                <a:spcPts val="13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          factory_nova.pcd  (4.7 MB, visualization)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114800"/>
            <a:ext cx="114300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  <a:latin typeface="Arial"/>
              </a:defRPr>
            </a:pPr>
            <a:r>
              <a:t>End-to-End Perception-Planning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634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"/>
              </a:spcAft>
              <a:defRPr sz="1100">
                <a:solidFill>
                  <a:srgbClr val="2C3E50"/>
                </a:solidFill>
                <a:latin typeface="Consolas"/>
              </a:defRPr>
            </a:pPr>
            <a:r>
              <a:t>MuJoCo                    ROS2 Navigation Stack                              MuJoCo</a:t>
            </a:r>
          </a:p>
          <a:p>
            <a:pPr>
              <a:spcAft>
                <a:spcPts val="110"/>
              </a:spcAft>
              <a:defRPr sz="1100">
                <a:solidFill>
                  <a:srgbClr val="2C3E50"/>
                </a:solidFill>
                <a:latin typeface="Consolas"/>
              </a:defRPr>
            </a:pPr>
            <a:r>
              <a:t>──────────               ───────────────────────────────────────                  ──────────</a:t>
            </a:r>
          </a:p>
          <a:p>
            <a:pPr>
              <a:spcAft>
                <a:spcPts val="110"/>
              </a:spcAft>
              <a:defRPr sz="1100">
                <a:solidFill>
                  <a:srgbClr val="2C3E50"/>
                </a:solidFill>
                <a:latin typeface="Consolas"/>
              </a:defRPr>
            </a:pPr>
            <a:r>
              <a:t>mj_multiRay → PointCloud2 → terrain_analysis → localPlanner → pathFollower → cmd_vel → ONNX Policy</a:t>
            </a:r>
          </a:p>
          <a:p>
            <a:pPr>
              <a:spcAft>
                <a:spcPts val="110"/>
              </a:spcAft>
              <a:defRPr sz="1100">
                <a:solidFill>
                  <a:srgbClr val="2C3E50"/>
                </a:solidFill>
                <a:latin typeface="Consolas"/>
              </a:defRPr>
            </a:pPr>
            <a:r>
              <a:t>      │                                  ▲                                              │</a:t>
            </a:r>
          </a:p>
          <a:p>
            <a:pPr>
              <a:spcAft>
                <a:spcPts val="110"/>
              </a:spcAft>
              <a:defRPr sz="1100">
                <a:solidFill>
                  <a:srgbClr val="2C3E50"/>
                </a:solidFill>
                <a:latin typeface="Consolas"/>
              </a:defRPr>
            </a:pPr>
            <a:r>
              <a:t>      └─── odometry (TF) ───────────┘                                              │</a:t>
            </a:r>
          </a:p>
          <a:p>
            <a:pPr>
              <a:spcAft>
                <a:spcPts val="110"/>
              </a:spcAft>
              <a:defRPr sz="1100">
                <a:solidFill>
                  <a:srgbClr val="2C3E50"/>
                </a:solidFill>
                <a:latin typeface="Consolas"/>
              </a:defRPr>
            </a:pPr>
            <a:r>
              <a:t>                              goal_pose → PCT A* → pct_path_adapter → way_point ───┘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Navigation Results — Factory Closed-Loop Tests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300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  <a:latin typeface="Arial"/>
              </a:defRPr>
            </a:pPr>
            <a:r>
              <a:t>Quantitative Results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</a:tblGrid>
              <a:tr h="28738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 Scene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Start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Goal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Final Position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Time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Replans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Error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Simple (flat)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(0, 0)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(5.0, 3.0)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(4.84, 2.89)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10s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&lt;0.2m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Building</a:t>
                      </a:r>
                    </a:p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(25m×18m)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(2, 2)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(22, 12)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(21.85, 11.89)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30s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&lt;0.2m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Factory G0</a:t>
                      </a:r>
                    </a:p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(ele_planner)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(5, 3)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(14, 3, 0.35)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Goal Reached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175s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Factory G0</a:t>
                      </a:r>
                    </a:p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(thru walls)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(5, 3)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(22, 10, 0.35)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Goal Reached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301s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Factory G0</a:t>
                      </a:r>
                    </a:p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(Mid-360)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(5, 3)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(14, 3, 0.35)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Goal Reached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196s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738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Global Plan</a:t>
                      </a:r>
                    </a:p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(Python A*)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(2, 2)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(18, 9)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(21.8, 11.9)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80s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~4m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65760" y="4114800"/>
            <a:ext cx="54864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206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  <a:latin typeface="Arial"/>
              </a:defRPr>
            </a:pPr>
            <a:r>
              <a:t>Key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66344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4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✓  All 6/6 navigation tests reached goal successfully</a:t>
            </a:r>
          </a:p>
          <a:p>
            <a:pPr>
              <a:spcAft>
                <a:spcPts val="194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✓  C++ ele_planner.so works on factory_nova tomogram</a:t>
            </a:r>
          </a:p>
          <a:p>
            <a:pPr>
              <a:spcAft>
                <a:spcPts val="194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✓  Python A* fallback: 7/8 goals &lt;10ms planning time</a:t>
            </a:r>
          </a:p>
          <a:p>
            <a:pPr>
              <a:spcAft>
                <a:spcPts val="194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✓  Stuck detection + auto-replan recovers from deadlocks</a:t>
            </a:r>
          </a:p>
          <a:p>
            <a:pPr>
              <a:spcAft>
                <a:spcPts val="194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✓  Livox Mid-360 scan pattern improves terrain coverage</a:t>
            </a:r>
          </a:p>
          <a:p>
            <a:pPr>
              <a:spcAft>
                <a:spcPts val="194"/>
              </a:spcAft>
              <a:defRPr sz="1300">
                <a:solidFill>
                  <a:srgbClr val="2C3E50"/>
                </a:solidFill>
                <a:latin typeface="Arial"/>
              </a:defRPr>
            </a:pPr>
          </a:p>
          <a:p>
            <a:pPr>
              <a:spcAft>
                <a:spcPts val="194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✗  Goal overshoot ~4m on long paths (arrival radius tuning)</a:t>
            </a:r>
          </a:p>
          <a:p>
            <a:pPr>
              <a:spcAft>
                <a:spcPts val="194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✗  Replan-triggered waypoint reset causes temporary stalls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4114800"/>
            <a:ext cx="56692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4206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  <a:latin typeface="Arial"/>
              </a:defRPr>
            </a:pPr>
            <a:r>
              <a:t>Global Planner Comparison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17920" y="466344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C++ ele_planner.so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Python A*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Planning 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&lt;5ms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&lt;10ms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Success Rate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Requires numpy 1.x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No .so dependency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Obstacle Threshold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50 (configurable)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49.9 (fixed)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Path Quality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QoS: TRANSIENT_LOCAL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QoS: TRANSIENT_LOCAL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ABI Issues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numpy version conflict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ROS2 Node Integration Tests — 8/8 PASS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0" y="91440"/>
            <a:ext cx="2286000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37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ALL PASS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0584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5283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Nodes Under Test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Checks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Duration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T1 terrain_analysis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terrainAnalysis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terrain_map output,</a:t>
                      </a:r>
                    </a:p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ground/obstacle intensity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12s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T2 localPlanner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terrainAnalysis +</a:t>
                      </a:r>
                    </a:p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localPlanner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Path generation,</a:t>
                      </a:r>
                    </a:p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wall avoidance, stop signal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18s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T3 pathFollower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pathFollower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cmd_vel direction,</a:t>
                      </a:r>
                    </a:p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stuck detection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15s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T4 global_planner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pct_planner_astar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Global path output,</a:t>
                      </a:r>
                    </a:p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path quality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8s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T5 pct_path_adapter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pct_path_adapter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Waypoint progression,</a:t>
                      </a:r>
                    </a:p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goal_reached event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10s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T6 full_chain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All 6 nodes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goal → cmd_vel,</a:t>
                      </a:r>
                    </a:p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5/5 checks, 18s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18s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T7 safety_signals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localPlanner +</a:t>
                      </a:r>
                    </a:p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pathFollower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E-stop, slow_down,</a:t>
                      </a:r>
                    </a:p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cmd_vel zeroing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20s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T8 han_dog_bridge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han_dog_bridge +</a:t>
                      </a:r>
                    </a:p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mock/real CMS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gRPC Walk(), watchdog,</a:t>
                      </a:r>
                    </a:p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joint stream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12s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Arial"/>
              </a:defRPr>
            </a:pPr>
            <a:r>
              <a:t>Platform: RDK S100P (aarch64) | ROS2 Humble | Real C++ nodes (terrain_analysis, localPlanner, pathFollower) + Python (global_planner, adapter)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SLAM Vibration Robustness — Quadruped Gait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4864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  <a:latin typeface="Arial"/>
              </a:defRPr>
            </a:pPr>
            <a:r>
              <a:t>Dataset: Leg-KILO Corridor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"/>
              </a:spcAft>
              <a:defRPr sz="1300">
                <a:solidFill>
                  <a:srgbClr val="2C3E50"/>
                </a:solidFill>
                <a:latin typeface="Consolas"/>
              </a:defRPr>
            </a:pPr>
            <a:r>
              <a:t>Platform:      Unitree Go1 quadruped robot</a:t>
            </a:r>
          </a:p>
          <a:p>
            <a:pPr>
              <a:spcAft>
                <a:spcPts val="130"/>
              </a:spcAft>
              <a:defRPr sz="1300">
                <a:solidFill>
                  <a:srgbClr val="2C3E50"/>
                </a:solidFill>
                <a:latin typeface="Consolas"/>
              </a:defRPr>
            </a:pPr>
            <a:r>
              <a:t>LiDAR:         Velodyne VLP-16 (16-line, 10Hz)</a:t>
            </a:r>
          </a:p>
          <a:p>
            <a:pPr>
              <a:spcAft>
                <a:spcPts val="130"/>
              </a:spcAft>
              <a:defRPr sz="1300">
                <a:solidFill>
                  <a:srgbClr val="2C3E50"/>
                </a:solidFill>
                <a:latin typeface="Consolas"/>
              </a:defRPr>
            </a:pPr>
            <a:r>
              <a:t>IMU:           Internal (~500Hz)</a:t>
            </a:r>
          </a:p>
          <a:p>
            <a:pPr>
              <a:spcAft>
                <a:spcPts val="130"/>
              </a:spcAft>
              <a:defRPr sz="1300">
                <a:solidFill>
                  <a:srgbClr val="2C3E50"/>
                </a:solidFill>
                <a:latin typeface="Consolas"/>
              </a:defRPr>
            </a:pPr>
            <a:r>
              <a:t>Scene:         Indoor corridor (L-shape + return)</a:t>
            </a:r>
          </a:p>
          <a:p>
            <a:pPr>
              <a:spcAft>
                <a:spcPts val="130"/>
              </a:spcAft>
              <a:defRPr sz="1300">
                <a:solidFill>
                  <a:srgbClr val="2C3E50"/>
                </a:solidFill>
                <a:latin typeface="Consolas"/>
              </a:defRPr>
            </a:pPr>
            <a:r>
              <a:t>Duration:      445 seconds (7.4 minutes)</a:t>
            </a:r>
          </a:p>
          <a:p>
            <a:pPr>
              <a:spcAft>
                <a:spcPts val="130"/>
              </a:spcAft>
              <a:defRPr sz="1300">
                <a:solidFill>
                  <a:srgbClr val="2C3E50"/>
                </a:solidFill>
                <a:latin typeface="Consolas"/>
              </a:defRPr>
            </a:pPr>
            <a:r>
              <a:t>Messages:      670,538 total</a:t>
            </a:r>
          </a:p>
          <a:p>
            <a:pPr>
              <a:spcAft>
                <a:spcPts val="130"/>
              </a:spcAft>
              <a:defRPr sz="1300">
                <a:solidFill>
                  <a:srgbClr val="2C3E50"/>
                </a:solidFill>
                <a:latin typeface="Consolas"/>
              </a:defRPr>
            </a:pPr>
            <a:r>
              <a:t>  • PointCloud2:  4,421</a:t>
            </a:r>
          </a:p>
          <a:p>
            <a:pPr>
              <a:spcAft>
                <a:spcPts val="130"/>
              </a:spcAft>
              <a:defRPr sz="1300">
                <a:solidFill>
                  <a:srgbClr val="2C3E50"/>
                </a:solidFill>
                <a:latin typeface="Consolas"/>
              </a:defRPr>
            </a:pPr>
            <a:r>
              <a:t>  • IMU:          222,039</a:t>
            </a:r>
          </a:p>
          <a:p>
            <a:pPr>
              <a:spcAft>
                <a:spcPts val="130"/>
              </a:spcAft>
              <a:defRPr sz="1300">
                <a:solidFill>
                  <a:srgbClr val="2C3E50"/>
                </a:solidFill>
                <a:latin typeface="Consolas"/>
              </a:defRPr>
            </a:pPr>
            <a:r>
              <a:t>Vibration:     Gait impact + body pitch oscillation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097280"/>
            <a:ext cx="566928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  <a:latin typeface="Arial"/>
              </a:defRPr>
            </a:pPr>
            <a:r>
              <a:t>Results Summary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17920" y="1645920"/>
          <a:ext cx="5486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Algorithm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Data Source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Metric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Quadruped</a:t>
                      </a:r>
                    </a:p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vibration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Point-LIO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Leg-KILO</a:t>
                      </a:r>
                    </a:p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VLP-16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445s stable,</a:t>
                      </a:r>
                    </a:p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loop closure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Quadruped</a:t>
                      </a:r>
                    </a:p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vibration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Fast-LIO2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Leg-KILO</a:t>
                      </a:r>
                    </a:p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VLP-16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No PointCloud2</a:t>
                      </a:r>
                    </a:p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support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Static</a:t>
                      </a:r>
                    </a:p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real-time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Point-LIO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Livox</a:t>
                      </a:r>
                    </a:p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Mid-360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0.006m drift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Static</a:t>
                      </a:r>
                    </a:p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real-time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Fast-LIO2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Livox</a:t>
                      </a:r>
                    </a:p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Mid-360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0.008m drift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5760" y="4114800"/>
            <a:ext cx="114300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Arial"/>
              </a:defRPr>
            </a:pPr>
            <a:r>
              <a:t>Point-LIO Trajectory Analysis (Leg-KILO Corridor, 445s)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4663440"/>
          <a:ext cx="5029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235131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Value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Total Distance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~220m (110m out + 110m return)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Max Displacement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109.9m from start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Loop Closure Error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7.1m (no explicit loop closure)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Z-axis Drift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&lt;1m peak (-0.88m), acceptable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IMU Init 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&lt;1 second (1% → 63% → 100%)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513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Output Rate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10Hz stable throughout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943600" y="4572000"/>
            <a:ext cx="219456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47091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E86C1"/>
                </a:solidFill>
                <a:latin typeface="Arial"/>
              </a:defRPr>
            </a:pPr>
            <a:r>
              <a:t>220m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5303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Arial"/>
              </a:defRPr>
            </a:pPr>
            <a:r>
              <a:t>Total Trajectory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4572000"/>
            <a:ext cx="219456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7091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7AE60"/>
                </a:solidFill>
                <a:latin typeface="Arial"/>
              </a:defRPr>
            </a:pPr>
            <a:r>
              <a:t>&lt;1m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5303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Arial"/>
              </a:defRPr>
            </a:pPr>
            <a:r>
              <a:t>Z-drift (peak)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15600" y="4572000"/>
            <a:ext cx="219456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0" y="47091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7AE60"/>
                </a:solidFill>
                <a:latin typeface="Arial"/>
              </a:defRPr>
            </a:pPr>
            <a:r>
              <a:t>10Hz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5303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Arial"/>
              </a:defRPr>
            </a:pPr>
            <a:r>
              <a:t>Stable Output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Semantic Navigation — Natural Language Goal Resolution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66928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  <a:latin typeface="Arial"/>
              </a:defRPr>
            </a:pPr>
            <a:r>
              <a:t>Fast-Slow Dual Process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System 1 (Fast Path):  &lt;200ms, rule-based</a:t>
            </a:r>
          </a:p>
          <a:p>
            <a:pPr>
              <a:spcAft>
                <a:spcPts val="13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•  Scene graph keyword + spatial matching</a:t>
            </a:r>
          </a:p>
          <a:p>
            <a:pPr>
              <a:spcAft>
                <a:spcPts val="13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•  Confidence fusion: label 35% + CLIP 35%</a:t>
            </a:r>
          </a:p>
          <a:p>
            <a:pPr>
              <a:spcAft>
                <a:spcPts val="13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•  Threshold: 0.75 (fused score)</a:t>
            </a:r>
          </a:p>
          <a:p>
            <a:pPr>
              <a:spcAft>
                <a:spcPts val="13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•  Target: &gt;70% hit rate</a:t>
            </a:r>
          </a:p>
          <a:p>
            <a:pPr>
              <a:spcAft>
                <a:spcPts val="130"/>
              </a:spcAft>
              <a:defRPr sz="1300">
                <a:solidFill>
                  <a:srgbClr val="2C3E50"/>
                </a:solidFill>
                <a:latin typeface="Arial"/>
              </a:defRPr>
            </a:pPr>
          </a:p>
          <a:p>
            <a:pPr>
              <a:spcAft>
                <a:spcPts val="13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System 2 (Slow Path):  ~2s, LLM reasoning</a:t>
            </a:r>
          </a:p>
          <a:p>
            <a:pPr>
              <a:spcAft>
                <a:spcPts val="13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•  ESCA selective grounding (92.5% token reduction)</a:t>
            </a:r>
          </a:p>
          <a:p>
            <a:pPr>
              <a:spcAft>
                <a:spcPts val="13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•  Multi-backend: Kimi / Qwen / Claude / OpenAI</a:t>
            </a:r>
          </a:p>
          <a:p>
            <a:pPr>
              <a:spcAft>
                <a:spcPts val="130"/>
              </a:spcAft>
              <a:defRPr sz="1300">
                <a:solidFill>
                  <a:srgbClr val="2C3E50"/>
                </a:solidFill>
                <a:latin typeface="Arial"/>
              </a:defRPr>
            </a:pPr>
          </a:p>
          <a:p>
            <a:pPr>
              <a:spcAft>
                <a:spcPts val="13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AdaNav Entropy Trigger:</a:t>
            </a:r>
          </a:p>
          <a:p>
            <a:pPr>
              <a:spcAft>
                <a:spcPts val="13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entropy &gt; 1.5 &amp;&amp; confidence &lt; 0.85 → force Slow Path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097280"/>
            <a:ext cx="54864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1887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  <a:latin typeface="Arial"/>
              </a:defRPr>
            </a:pPr>
            <a:r>
              <a:t>E2E Test Results (Factory Scene)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1645920"/>
          <a:ext cx="53035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Instruction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Path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Time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"导航到工厂大门"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Fast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10.9s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"导航到机械设备"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Fast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71.6s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"导航到目标区域"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Fast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107s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92240" y="31089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"/>
              </a:spcAft>
              <a:defRPr sz="1200">
                <a:solidFill>
                  <a:srgbClr val="7F8C8D"/>
                </a:solidFill>
                <a:latin typeface="Arial"/>
              </a:defRPr>
            </a:pPr>
            <a:r>
              <a:t>Fast path confidence: 0.95 (score=0.92, well above 0.75)</a:t>
            </a:r>
          </a:p>
          <a:p>
            <a:pPr>
              <a:spcAft>
                <a:spcPts val="120"/>
              </a:spcAft>
              <a:defRPr sz="1200">
                <a:solidFill>
                  <a:srgbClr val="7F8C8D"/>
                </a:solidFill>
                <a:latin typeface="Arial"/>
              </a:defRPr>
            </a:pPr>
            <a:r>
              <a:t>Full pipeline: instruction → scene graph → goal_pose →</a:t>
            </a:r>
          </a:p>
          <a:p>
            <a:pPr>
              <a:spcAft>
                <a:spcPts val="120"/>
              </a:spcAft>
              <a:defRPr sz="1200">
                <a:solidFill>
                  <a:srgbClr val="7F8C8D"/>
                </a:solidFill>
                <a:latin typeface="Arial"/>
              </a:defRPr>
            </a:pPr>
            <a:r>
              <a:t>  global_planner → adapter → local_planner → cmd_vel</a:t>
            </a:r>
          </a:p>
          <a:p>
            <a:pPr>
              <a:spcAft>
                <a:spcPts val="120"/>
              </a:spcAft>
              <a:defRPr sz="1200">
                <a:solidFill>
                  <a:srgbClr val="7F8C8D"/>
                </a:solidFill>
                <a:latin typeface="Arial"/>
              </a:defRPr>
            </a:pPr>
            <a:r>
              <a:t>Tested on factory scene with 10+ semantic objects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114800"/>
            <a:ext cx="114300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  <a:latin typeface="Arial"/>
              </a:defRPr>
            </a:pPr>
            <a:r>
              <a:t>Mission Arc FSM — Task Lifecycle Management (New)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6634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"/>
              </a:spcAft>
              <a:defRPr sz="1200">
                <a:solidFill>
                  <a:srgbClr val="2C3E50"/>
                </a:solidFill>
                <a:latin typeface="Consolas"/>
              </a:defRPr>
            </a:pPr>
            <a:r>
              <a:t>State Machine:  IDLE → PLANNING → EXECUTING → COMPLETE</a:t>
            </a:r>
          </a:p>
          <a:p>
            <a:pPr>
              <a:spcAft>
                <a:spcPts val="60"/>
              </a:spcAft>
              <a:defRPr sz="1200">
                <a:solidFill>
                  <a:srgbClr val="2C3E50"/>
                </a:solidFill>
                <a:latin typeface="Consolas"/>
              </a:defRPr>
            </a:pPr>
            <a:r>
              <a:t>                         │          │</a:t>
            </a:r>
          </a:p>
          <a:p>
            <a:pPr>
              <a:spcAft>
                <a:spcPts val="60"/>
              </a:spcAft>
              <a:defRPr sz="1200">
                <a:solidFill>
                  <a:srgbClr val="2C3E50"/>
                </a:solidFill>
                <a:latin typeface="Consolas"/>
              </a:defRPr>
            </a:pPr>
            <a:r>
              <a:t>                         └─ RECOVERING → REPLANNING ─┘</a:t>
            </a:r>
          </a:p>
          <a:p>
            <a:pPr>
              <a:spcAft>
                <a:spcPts val="60"/>
              </a:spcAft>
              <a:defRPr sz="1200">
                <a:solidFill>
                  <a:srgbClr val="2C3E50"/>
                </a:solidFill>
                <a:latin typeface="Consolas"/>
              </a:defRPr>
            </a:pPr>
            <a:r>
              <a:t>                                   │</a:t>
            </a:r>
          </a:p>
          <a:p>
            <a:pPr>
              <a:spcAft>
                <a:spcPts val="60"/>
              </a:spcAft>
              <a:defRPr sz="1200">
                <a:solidFill>
                  <a:srgbClr val="2C3E50"/>
                </a:solidFill>
                <a:latin typeface="Consolas"/>
              </a:defRPr>
            </a:pPr>
            <a:r>
              <a:t>                                FAILED (terminal)</a:t>
            </a:r>
          </a:p>
          <a:p>
            <a:pPr>
              <a:spcAft>
                <a:spcPts val="60"/>
              </a:spcAft>
              <a:defRPr sz="1200">
                <a:solidFill>
                  <a:srgbClr val="2C3E50"/>
                </a:solidFill>
                <a:latin typeface="Consolas"/>
              </a:defRPr>
            </a:pPr>
          </a:p>
          <a:p>
            <a:pPr>
              <a:spcAft>
                <a:spcPts val="60"/>
              </a:spcAft>
              <a:defRPr sz="1200">
                <a:solidFill>
                  <a:srgbClr val="2C3E50"/>
                </a:solidFill>
                <a:latin typeface="Consolas"/>
              </a:defRPr>
            </a:pPr>
            <a:r>
              <a:t>Features:  • Pure observer (subscribes to /nav/adapter_status + /nav/planner_status)</a:t>
            </a:r>
          </a:p>
          <a:p>
            <a:pPr>
              <a:spcAft>
                <a:spcPts val="60"/>
              </a:spcAft>
              <a:defRPr sz="1200">
                <a:solidFill>
                  <a:srgbClr val="2C3E50"/>
                </a:solidFill>
                <a:latin typeface="Consolas"/>
              </a:defRPr>
            </a:pPr>
            <a:r>
              <a:t>           • Publishes /nav/mission_status (JSON) at 2Hz</a:t>
            </a:r>
          </a:p>
          <a:p>
            <a:pPr>
              <a:spcAft>
                <a:spcPts val="60"/>
              </a:spcAft>
              <a:defRPr sz="1200">
                <a:solidFill>
                  <a:srgbClr val="2C3E50"/>
                </a:solidFill>
                <a:latin typeface="Consolas"/>
              </a:defRPr>
            </a:pPr>
            <a:r>
              <a:t>           • Integrated into gRPC TelemetryService (SlowState.navigation.mission)</a:t>
            </a:r>
          </a:p>
          <a:p>
            <a:pPr>
              <a:spcAft>
                <a:spcPts val="60"/>
              </a:spcAft>
              <a:defRPr sz="1200">
                <a:solidFill>
                  <a:srgbClr val="2C3E50"/>
                </a:solidFill>
                <a:latin typeface="Consolas"/>
              </a:defRPr>
            </a:pPr>
            <a:r>
              <a:t>           • Event emission on state transitions (EventBuffer)</a:t>
            </a:r>
          </a:p>
          <a:p>
            <a:pPr>
              <a:spcAft>
                <a:spcPts val="60"/>
              </a:spcAft>
              <a:defRPr sz="1200">
                <a:solidFill>
                  <a:srgbClr val="2C3E50"/>
                </a:solidFill>
                <a:latin typeface="Consolas"/>
              </a:defRPr>
            </a:pPr>
            <a:r>
              <a:t>           • 7/7 integration tests PASS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rial"/>
              </a:defRPr>
            </a:pPr>
            <a:r>
              <a:t>Conclusion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645920"/>
            <a:ext cx="5486400" cy="3200400"/>
          </a:xfrm>
          <a:prstGeom prst="rect">
            <a:avLst/>
          </a:prstGeom>
          <a:solidFill>
            <a:srgbClr val="1F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6C1"/>
                </a:solidFill>
                <a:latin typeface="Arial"/>
              </a:defRPr>
            </a:pPr>
            <a:r>
              <a:t>Contributions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1. End-to-end MuJoCo simulation framework for</a:t>
            </a:r>
          </a:p>
          <a:p>
            <a:pPr>
              <a:spcAft>
                <a:spcPts val="13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   quadruped navigation in multi-level industrial</a:t>
            </a:r>
          </a:p>
          <a:p>
            <a:pPr>
              <a:spcAft>
                <a:spcPts val="13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   environments (80m×55m, 4 levels, 13.5m height)</a:t>
            </a:r>
          </a:p>
          <a:p>
            <a:pPr>
              <a:spcAft>
                <a:spcPts val="130"/>
              </a:spcAft>
              <a:defRPr sz="1300">
                <a:solidFill>
                  <a:srgbClr val="FFFFFF"/>
                </a:solidFill>
                <a:latin typeface="Arial"/>
              </a:defRPr>
            </a:pPr>
          </a:p>
          <a:p>
            <a:pPr>
              <a:spcAft>
                <a:spcPts val="13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2. Real ONNX locomotion policy deployment on</a:t>
            </a:r>
          </a:p>
          <a:p>
            <a:pPr>
              <a:spcAft>
                <a:spcPts val="13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   aarch64 (RDK S100P), resolving 3 critical</a:t>
            </a:r>
          </a:p>
          <a:p>
            <a:pPr>
              <a:spcAft>
                <a:spcPts val="13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   sim-to-real transfer bugs</a:t>
            </a:r>
          </a:p>
          <a:p>
            <a:pPr>
              <a:spcAft>
                <a:spcPts val="130"/>
              </a:spcAft>
              <a:defRPr sz="1300">
                <a:solidFill>
                  <a:srgbClr val="FFFFFF"/>
                </a:solidFill>
                <a:latin typeface="Arial"/>
              </a:defRPr>
            </a:pPr>
          </a:p>
          <a:p>
            <a:pPr>
              <a:spcAft>
                <a:spcPts val="13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3. Full ROS2 navigation stack integration:</a:t>
            </a:r>
          </a:p>
          <a:p>
            <a:pPr>
              <a:spcAft>
                <a:spcPts val="13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   8/8 node-level tests + 6/6 navigation trials PASS</a:t>
            </a:r>
          </a:p>
          <a:p>
            <a:pPr>
              <a:spcAft>
                <a:spcPts val="130"/>
              </a:spcAft>
              <a:defRPr sz="1300">
                <a:solidFill>
                  <a:srgbClr val="FFFFFF"/>
                </a:solidFill>
                <a:latin typeface="Arial"/>
              </a:defRPr>
            </a:pPr>
          </a:p>
          <a:p>
            <a:pPr>
              <a:spcAft>
                <a:spcPts val="13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4. SLAM vibration robustness verified on real</a:t>
            </a:r>
          </a:p>
          <a:p>
            <a:pPr>
              <a:spcAft>
                <a:spcPts val="13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   quadruped gait dataset (Leg-KILO, 220m, 445s)</a:t>
            </a:r>
          </a:p>
          <a:p>
            <a:pPr>
              <a:spcAft>
                <a:spcPts val="130"/>
              </a:spcAft>
              <a:defRPr sz="1300">
                <a:solidFill>
                  <a:srgbClr val="FFFFFF"/>
                </a:solidFill>
                <a:latin typeface="Arial"/>
              </a:defRPr>
            </a:pPr>
          </a:p>
          <a:p>
            <a:pPr>
              <a:spcAft>
                <a:spcPts val="13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5. Semantic VLN with Fast-Slow dual process:</a:t>
            </a:r>
          </a:p>
          <a:p>
            <a:pPr>
              <a:spcAft>
                <a:spcPts val="13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   3/3 Chinese instructions resolved in &lt;107s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45920"/>
            <a:ext cx="5669280" cy="3200400"/>
          </a:xfrm>
          <a:prstGeom prst="rect">
            <a:avLst/>
          </a:prstGeom>
          <a:solidFill>
            <a:srgbClr val="1F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737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6C1"/>
                </a:solidFill>
                <a:latin typeface="Arial"/>
              </a:defRPr>
            </a:pPr>
            <a:r>
              <a:t>Future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19456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Real-robot deployment on NOVA Thunder</a:t>
            </a:r>
          </a:p>
          <a:p>
            <a:pPr>
              <a:spcAft>
                <a:spcPts val="13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   quadruped (pending motor chain verification)</a:t>
            </a:r>
          </a:p>
          <a:p>
            <a:pPr>
              <a:spcAft>
                <a:spcPts val="130"/>
              </a:spcAft>
              <a:defRPr sz="1300">
                <a:solidFill>
                  <a:srgbClr val="FFFFFF"/>
                </a:solidFill>
                <a:latin typeface="Arial"/>
              </a:defRPr>
            </a:pPr>
          </a:p>
          <a:p>
            <a:pPr>
              <a:spcAft>
                <a:spcPts val="13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Multi-floor navigation with stair traversal</a:t>
            </a:r>
          </a:p>
          <a:p>
            <a:pPr>
              <a:spcAft>
                <a:spcPts val="13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   (ramp G0→M1 validated, stairs pending RL policy)</a:t>
            </a:r>
          </a:p>
          <a:p>
            <a:pPr>
              <a:spcAft>
                <a:spcPts val="130"/>
              </a:spcAft>
              <a:defRPr sz="1300">
                <a:solidFill>
                  <a:srgbClr val="FFFFFF"/>
                </a:solidFill>
                <a:latin typeface="Arial"/>
              </a:defRPr>
            </a:pPr>
          </a:p>
          <a:p>
            <a:pPr>
              <a:spcAft>
                <a:spcPts val="13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Dynamic obstacle handling with semantic</a:t>
            </a:r>
          </a:p>
          <a:p>
            <a:pPr>
              <a:spcAft>
                <a:spcPts val="13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   perception (YOLO-World + ConceptGraphs)</a:t>
            </a:r>
          </a:p>
          <a:p>
            <a:pPr>
              <a:spcAft>
                <a:spcPts val="130"/>
              </a:spcAft>
              <a:defRPr sz="1300">
                <a:solidFill>
                  <a:srgbClr val="FFFFFF"/>
                </a:solidFill>
                <a:latin typeface="Arial"/>
              </a:defRPr>
            </a:pPr>
          </a:p>
          <a:p>
            <a:pPr>
              <a:spcAft>
                <a:spcPts val="13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OTA update system for field deployment</a:t>
            </a:r>
          </a:p>
          <a:p>
            <a:pPr>
              <a:spcAft>
                <a:spcPts val="13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   (v3.1.0 ready, Ed25519 signed manifests)</a:t>
            </a:r>
          </a:p>
          <a:p>
            <a:pPr>
              <a:spcAft>
                <a:spcPts val="130"/>
              </a:spcAft>
              <a:defRPr sz="1300">
                <a:solidFill>
                  <a:srgbClr val="FFFFFF"/>
                </a:solidFill>
                <a:latin typeface="Arial"/>
              </a:defRPr>
            </a:pPr>
          </a:p>
          <a:p>
            <a:pPr>
              <a:spcAft>
                <a:spcPts val="13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Fleet management with gRPC telemetry</a:t>
            </a:r>
          </a:p>
          <a:p>
            <a:pPr>
              <a:spcAft>
                <a:spcPts val="13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   (MissionArc FSM + EventBuffer integrated)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120640"/>
            <a:ext cx="11430000" cy="1371600"/>
          </a:xfrm>
          <a:prstGeom prst="rect">
            <a:avLst/>
          </a:prstGeom>
          <a:solidFill>
            <a:srgbClr val="14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212080"/>
            <a:ext cx="219456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349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E86C1"/>
                </a:solidFill>
                <a:latin typeface="Arial"/>
              </a:defRPr>
            </a:pPr>
            <a:r>
              <a:t>6/6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43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Arial"/>
              </a:defRPr>
            </a:pPr>
            <a:r>
              <a:t>Nav Tests PASS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5212080"/>
            <a:ext cx="219456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5349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E86C1"/>
                </a:solidFill>
                <a:latin typeface="Arial"/>
              </a:defRPr>
            </a:pPr>
            <a:r>
              <a:t>8/8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5943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Arial"/>
              </a:defRPr>
            </a:pPr>
            <a:r>
              <a:t>Integration PASS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5212080"/>
            <a:ext cx="219456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5349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E86C1"/>
                </a:solidFill>
                <a:latin typeface="Arial"/>
              </a:defRPr>
            </a:pPr>
            <a:r>
              <a:t>3/3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5943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Arial"/>
              </a:defRPr>
            </a:pPr>
            <a:r>
              <a:t>Semantic PASS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5212080"/>
            <a:ext cx="219456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0" y="5349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E86C1"/>
                </a:solidFill>
                <a:latin typeface="Arial"/>
              </a:defRPr>
            </a:pPr>
            <a:r>
              <a:t>220m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5943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Arial"/>
              </a:defRPr>
            </a:pPr>
            <a:r>
              <a:t>SLAM Trajectory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92640" y="5212080"/>
            <a:ext cx="219456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0" y="5349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E86C1"/>
                </a:solidFill>
                <a:latin typeface="Arial"/>
              </a:defRPr>
            </a:pPr>
            <a:r>
              <a:t>16-DOF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5943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Arial"/>
              </a:defRPr>
            </a:pPr>
            <a:r>
              <a:t>RL Policy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