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2560320"/>
            <a:ext cx="758952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274320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2222"/>
                </a:solidFill>
                <a:latin typeface="Segoe UI"/>
              </a:defRPr>
            </a:pPr>
            <a:r>
              <a:t>SLAM Vibration Robustness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749039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Point-LIO performance under quadruped robot vibration</a:t>
            </a:r>
            <a:br/>
            <a:r>
              <a:t>across indoor and outdoor terrain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4572000"/>
            <a:ext cx="758952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846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2026.03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  <a:latin typeface="Segoe UI"/>
              </a:defRPr>
            </a:pPr>
            <a: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F77B4"/>
                </a:solidFill>
                <a:latin typeface="Consolas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Motivation &amp; Test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F77B4"/>
                </a:solidFill>
                <a:latin typeface="Consolas"/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642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Experimental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396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F77B4"/>
                </a:solidFill>
                <a:latin typeface="Consolas"/>
              </a:defRPr>
            </a:pPr>
            <a: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3969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2D Trajectory Visualization (per scenario)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151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F77B4"/>
                </a:solidFill>
                <a:latin typeface="Consolas"/>
              </a:defRPr>
            </a:pPr>
            <a: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1518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Overlaid Trajectory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90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F77B4"/>
                </a:solidFill>
                <a:latin typeface="Consolas"/>
              </a:defRPr>
            </a:pPr>
            <a: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0906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Z-axis Drift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F77B4"/>
                </a:solidFill>
                <a:latin typeface="Consolas"/>
              </a:defRPr>
            </a:pPr>
            <a: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Displacement &amp; Speed Profiles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0416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F77B4"/>
                </a:solidFill>
                <a:latin typeface="Consolas"/>
              </a:defRPr>
            </a:pPr>
            <a:r>
              <a:t>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0416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Position Component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171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F77B4"/>
                </a:solidFill>
                <a:latin typeface="Consolas"/>
              </a:defRPr>
            </a:pPr>
            <a:r>
              <a:t>8.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51713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Quantitative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9926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F77B4"/>
                </a:solidFill>
                <a:latin typeface="Consolas"/>
              </a:defRPr>
            </a:pPr>
            <a:r>
              <a:t>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99262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Algorithm Comparison (table, trajectory, analysis)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681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F77B4"/>
                </a:solidFill>
                <a:latin typeface="Consolas"/>
              </a:defRPr>
            </a:pPr>
            <a:r>
              <a:t>10.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4681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  <a:latin typeface="Segoe UI"/>
              </a:defRPr>
            </a:pPr>
            <a:r>
              <a:t>1. Motivation &amp; Test Criteria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22222"/>
                </a:solidFill>
                <a:latin typeface="Segoe UI"/>
              </a:defRPr>
            </a:pPr>
            <a:r>
              <a:t>Problem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Quadruped robots generate persistent high-frequency vibration: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- Foot-ground impact: 10-50 Hz impulse acceleration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- Body pitch/roll oscillation: ±5° attitude swing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- IMU noise variance increases 3-10x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These directly challenge LiDAR-IMU coupled SLAM: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- Point cloud motion distortion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- IMU pre-integration drift accumulation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- Odometry discontinuity risk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118872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Pass Criterion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Survivability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Zero crashes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Odometry output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Stable ≥5 Hz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Pose plausibility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Consistent with geometry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Z-axis drift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&lt; 2 m (flat corridor)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Loop consistency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Measurable return 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89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22222"/>
                </a:solidFill>
                <a:latin typeface="Segoe UI"/>
              </a:defRPr>
            </a:pPr>
            <a:r>
              <a:t>Test scope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Three terrain scenarios tested with Leg-KILO open dataset (Unitree Go1 + VLP-16):</a:t>
            </a:r>
          </a:p>
          <a:p>
            <a:pPr>
              <a:spcAft>
                <a:spcPts val="300"/>
              </a:spcAft>
              <a:defRPr sz="1300" b="0">
                <a:solidFill>
                  <a:srgbClr val="333333"/>
                </a:solidFill>
                <a:latin typeface="Segoe UI"/>
              </a:defRPr>
            </a:pPr>
            <a:r>
              <a:t>  1. Corridor — indoor flat L-shaped hallway (445 s)</a:t>
            </a:r>
          </a:p>
          <a:p>
            <a:pPr>
              <a:spcAft>
                <a:spcPts val="300"/>
              </a:spcAft>
              <a:defRPr sz="1300" b="0">
                <a:solidFill>
                  <a:srgbClr val="333333"/>
                </a:solidFill>
                <a:latin typeface="Segoe UI"/>
              </a:defRPr>
            </a:pPr>
            <a:r>
              <a:t>  2. Grass — outdoor uneven grass terrain (91.6 s)</a:t>
            </a:r>
          </a:p>
          <a:p>
            <a:pPr>
              <a:spcAft>
                <a:spcPts val="300"/>
              </a:spcAft>
              <a:defRPr sz="1300" b="0">
                <a:solidFill>
                  <a:srgbClr val="333333"/>
                </a:solidFill>
                <a:latin typeface="Segoe UI"/>
              </a:defRPr>
            </a:pPr>
            <a:r>
              <a:t>  3. Slope — outdoor hill/slope terrain (312 s)</a:t>
            </a:r>
          </a:p>
          <a:p>
            <a:pPr>
              <a:spcAft>
                <a:spcPts val="300"/>
              </a:spcAft>
              <a:defRPr sz="1300" b="0">
                <a:solidFill>
                  <a:srgbClr val="666666"/>
                </a:solidFill>
                <a:latin typeface="Segoe UI"/>
              </a:defRPr>
            </a:pPr>
            <a:r>
              <a:t>  + Real-time baseline: Livox Mid-360 static drift test (30 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  <a:latin typeface="Segoe UI"/>
              </a:defRPr>
            </a:pPr>
            <a:r>
              <a:t>2. 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Leg-KILO (KAIST, 2023)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Robot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Unitree Go1 quadruped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LiDAR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Velodyne VLP-16 (16-beam, 10 Hz)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IMU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Built-in (~500 Hz)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Corridor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445 s, 670 K msgs, L-shape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Grass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91.6 s, 211 K msgs, uneven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Slope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312 s, 467 K msgs, hill terrain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4846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SLAM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Config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Point-LIO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lidar_type=2, scan_line=16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timestamp_unit=2 (μs)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iVox point-wise 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Fast-LIO2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lidar_type=2, acc_scale=1.0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iKD-Tree frame-wise 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39319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222222"/>
                </a:solidFill>
                <a:latin typeface="Segoe UI"/>
              </a:defRPr>
            </a:pPr>
            <a:r>
              <a:t>Platform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RDK S100P (aarch64), ROS2 Humble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CycloneDDS, single-threaded (MP=1)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222222"/>
                </a:solidFill>
                <a:latin typeface="Segoe UI"/>
              </a:defRPr>
            </a:pPr>
            <a:r>
              <a:t>Data conversion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ROS1 bag → rosbags → ROS2 Humble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Metadata fix: version=4, rm hash,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offered_qos_profiles=""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Segoe UI"/>
              </a:defRPr>
            </a:pPr>
            <a:r>
              <a:t>3a. 2D Trajectory — Corridor (Indoor, 295 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69848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corridor_tr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21611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Segoe UI"/>
              </a:defRPr>
            </a:pPr>
            <a:r>
              <a:t>3b. 2D Trajectory — Slope (Outdoor, 162 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69848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slope_tr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16708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Segoe UI"/>
              </a:defRPr>
            </a:pPr>
            <a:r>
              <a:t>3c. 2D Trajectory — Grass (Outdoor, 27 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69848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grass_tr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148120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Segoe UI"/>
              </a:defRPr>
            </a:pPr>
            <a:r>
              <a:t>4. Overlaid Trajectory Comparison (Origin-Aligned)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69848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overlay_tr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128248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Segoe UI"/>
              </a:defRPr>
            </a:pPr>
            <a:r>
              <a:t>5. Z-axis Drift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69848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z_drif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5415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  <a:latin typeface="Segoe UI"/>
              </a:defRPr>
            </a:pPr>
            <a:r>
              <a:t>Key finding: Z estimation accuracy degrades with terrain complexity (flat 0.9 m → slope 6.4 m → grass 19.4 m),</a:t>
            </a:r>
          </a:p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  <a:latin typeface="Segoe UI"/>
              </a:defRPr>
            </a:pPr>
            <a:r>
              <a:t>but Point-LIO maintains zero crashes across all scenarios.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Segoe UI"/>
              </a:defRPr>
            </a:pPr>
            <a:r>
              <a:t>6. Displacement, Distance &amp; Speed Profiles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69848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isplacemen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5760720" cy="2834862"/>
          </a:xfrm>
          <a:prstGeom prst="rect">
            <a:avLst/>
          </a:prstGeom>
        </p:spPr>
      </p:pic>
      <p:pic>
        <p:nvPicPr>
          <p:cNvPr id="5" name="Picture 4" descr="fig_speed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22960"/>
            <a:ext cx="5760720" cy="2837195"/>
          </a:xfrm>
          <a:prstGeom prst="rect">
            <a:avLst/>
          </a:prstGeom>
        </p:spPr>
      </p:pic>
      <p:pic>
        <p:nvPicPr>
          <p:cNvPr id="6" name="Picture 5" descr="fig_cumulative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657600"/>
            <a:ext cx="5760720" cy="28348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Segoe UI"/>
              </a:defRPr>
            </a:pPr>
            <a:r>
              <a:t>7. Position Components (X, Y, Z) vs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69848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corridor_xy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5760720" cy="4016112"/>
          </a:xfrm>
          <a:prstGeom prst="rect">
            <a:avLst/>
          </a:prstGeom>
        </p:spPr>
      </p:pic>
      <p:pic>
        <p:nvPicPr>
          <p:cNvPr id="5" name="Picture 4" descr="fig_slope_xy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22960"/>
            <a:ext cx="5760720" cy="4019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Segoe UI"/>
              </a:defRPr>
            </a:pPr>
            <a:r>
              <a:t>8. Quantitative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69848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bar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22960"/>
            <a:ext cx="10332720" cy="506374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4389120"/>
          <a:ext cx="9418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28738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Corridor (indoor)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Grass (outdoor)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Slope (outdoor)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A02C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A02C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A02C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Crashes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Duration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295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27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162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Total distance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~268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~47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~346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Max displacement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109.9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35.8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132.6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|Z| peak drift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0.88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19.4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6.4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Segoe UI"/>
              </a:defRPr>
            </a:pPr>
            <a:r>
              <a:t>9a. Algorithm Comparison: Point-LIO vs Fast-LIO2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69848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05840"/>
          <a:ext cx="1069847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77639"/>
                <a:gridCol w="3977639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Dimension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Point-LIO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Fast-LIO2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Core algorithm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Point-wise update + iVox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Frame-wise update + iKD-Tree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Sensor support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Livox + Velodyne + Ouster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Livox + Velodyne (modified)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Corridor 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A02C"/>
                          </a:solidFill>
                          <a:latin typeface="Segoe UI"/>
                        </a:defRPr>
                      </a:pPr>
                      <a:r>
                        <a:t>PASS (174 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A02C"/>
                          </a:solidFill>
                          <a:latin typeface="Segoe UI"/>
                        </a:defRPr>
                      </a:pPr>
                      <a:r>
                        <a:t>PASS (234 s, full loop)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Z-axis drift (corridor)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4.5 m peak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0.9 m peak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Loop closure 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~30 m (partial)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&lt; 0.5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Static drift (Mid-360)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0.006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0.008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Odometry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10.0 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10.5 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22222"/>
                </a:solidFill>
                <a:latin typeface="Segoe UI"/>
              </a:defRPr>
            </a:pPr>
            <a:r>
              <a:t>Key finding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Both algorithms survive quadruped vibration,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but Fast-LIO2 achieves significantly better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Z-axis stability (0.9 m vs 4.5 m) and loop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closure accuracy on the corridor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754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22222"/>
                </a:solidFill>
                <a:latin typeface="Segoe UI"/>
              </a:defRPr>
            </a:pPr>
            <a:r>
              <a:t>Critical config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Fast-LIO2 requires lidar_filter_num = 1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(keep all points) for VLP-16 under vibration.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With filter_num = 3, divergence occurs at ~78 s.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Point-LIO tolerates aggressive downsampling.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Segoe UI"/>
              </a:defRPr>
            </a:pPr>
            <a:r>
              <a:t>9b. Trajectory Comparison — Same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69848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ual_traj_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20740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Segoe UI"/>
              </a:defRPr>
            </a:pPr>
            <a:r>
              <a:t>9c. Z-drift &amp; Position Analysis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69848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ual_z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5760720" cy="2834862"/>
          </a:xfrm>
          <a:prstGeom prst="rect">
            <a:avLst/>
          </a:prstGeom>
        </p:spPr>
      </p:pic>
      <p:pic>
        <p:nvPicPr>
          <p:cNvPr id="5" name="Picture 4" descr="fig_dual_displac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22960"/>
            <a:ext cx="5760720" cy="2834862"/>
          </a:xfrm>
          <a:prstGeom prst="rect">
            <a:avLst/>
          </a:prstGeom>
        </p:spPr>
      </p:pic>
      <p:pic>
        <p:nvPicPr>
          <p:cNvPr id="6" name="Picture 5" descr="fig_dual_xy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657600"/>
            <a:ext cx="941832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Segoe UI"/>
              </a:defRPr>
            </a:pPr>
            <a:r>
              <a:t>Appendix A. 3D Trajectory — Corridor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69848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corridor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18320" cy="96487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  <a:latin typeface="Segoe UI"/>
              </a:defRPr>
            </a:pPr>
            <a:r>
              <a:t>10.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22222"/>
                </a:solidFill>
                <a:latin typeface="Segoe UI"/>
              </a:defRPr>
            </a:pPr>
            <a:r>
              <a:t>1. Both Point-LIO and Fast-LIO2 survive quadruped vibration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 Zero crashes across 3 terrain scenarios (Point-LIO) and corridor (Fast-LIO2),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 totaling 1000+ s of testing and 900+ m of travel distance.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600" b="1">
                <a:solidFill>
                  <a:srgbClr val="222222"/>
                </a:solidFill>
                <a:latin typeface="Segoe UI"/>
              </a:defRPr>
            </a:pPr>
            <a:r>
              <a:t>2. Fast-LIO2 achieves superior Z-axis stability on corridor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 Z drift: Fast-LIO2 peak 0.9 m vs Point-LIO peak 4.5 m (5x better).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 Loop closure: Fast-LIO2 &lt; 0.5 m error, Point-LIO ~30 m (partial monitoring).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600" b="1">
                <a:solidFill>
                  <a:srgbClr val="222222"/>
                </a:solidFill>
                <a:latin typeface="Segoe UI"/>
              </a:defRPr>
            </a:pPr>
            <a:r>
              <a:t>3. Configuration is critical for vibration robustness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 Fast-LIO2 requires lidar_filter_num = 1 (no downsampling) under vibration.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 With filter_num = 3, catastrophic divergence at ~78 s. Point-LIO is more tolerant.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600" b="1">
                <a:solidFill>
                  <a:srgbClr val="222222"/>
                </a:solidFill>
                <a:latin typeface="Segoe UI"/>
              </a:defRPr>
            </a:pPr>
            <a:r>
              <a:t>4. Point-LIO advantages: broader sensor support + faster init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 Natively supports Livox, Velodyne, Ouster. ~1 s IMU init vs ~3 s.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 Recommended as default for multi-sensor deployments.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600" b="1">
                <a:solidFill>
                  <a:srgbClr val="222222"/>
                </a:solidFill>
                <a:latin typeface="Segoe UI"/>
              </a:defRPr>
            </a:pPr>
            <a:r>
              <a:t>5. Future work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 - ATE/RPE with ground truth trajectories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 - Outdoor terrain (grass, slope) dual-algorithm comparison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 - Loop closure integration for Point-LIO Z drift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743200"/>
            <a:ext cx="667512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92608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2222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749039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2 algorithms · 3 scenarios · 0 crashes · Z drift &lt; 1 m (Fast-LIO2)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297680"/>
            <a:ext cx="6675120" cy="228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Segoe U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